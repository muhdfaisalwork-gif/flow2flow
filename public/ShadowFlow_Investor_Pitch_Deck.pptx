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CONFIDENTIAL INVESTOR PRESENTATION • 2026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SHADOW FLOW</a:t>
            </a:r>
          </a:p>
          <a:p>
            <a:pPr>
              <a:spcAft>
                <a:spcPts val="1600"/>
              </a:spcAft>
              <a:defRPr sz="2000">
                <a:solidFill>
                  <a:srgbClr val="3B82F6"/>
                </a:solidFill>
                <a:latin typeface="Arial"/>
              </a:defRPr>
            </a:pPr>
            <a:r>
              <a:t>The Edge-Native AI Workflow Automation Platform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Serverless Cloudflare Edge Runtime • Full n8n Compatibility • Sub-Second Groq AI Copilot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F1F5F9"/>
                </a:solidFill>
                <a:latin typeface="Arial"/>
              </a:defRPr>
            </a:pPr>
            <a:r>
              <a:t>LIVE PLATFORM: https://shadowflow.work    |    GITHUB: muhdfaisalwork-gif/shadowflow    |    FOUNDER: Muhd Faisal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MARKET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Problem: Legacy Automation Is Costly &amp; Complex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Punitive Task Pricing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Platforms like Zapier and Make charge steep premiums per executed task.</a:t>
            </a:r>
            <a:br/>
            <a:br/>
            <a:r>
              <a:t>• High-volume webhook ingestion and data syncing costs $1,500 to $5,000+ monthly.</a:t>
            </a:r>
            <a:br/>
            <a:br/>
            <a:r>
              <a:t>• Forces engineering teams to build custom glue code to avoid bill shock.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Heavy VM Overhead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Self-hosted platforms like n8n require full Node.js Docker containers.</a:t>
            </a:r>
            <a:br/>
            <a:br/>
            <a:r>
              <a:t>• Demands continuous memory (512MB-1GB) and ongoing OS patching even when idle.</a:t>
            </a:r>
            <a:br/>
            <a:br/>
            <a:r>
              <a:t>• Cold boot times and container crashes cause lost webhook payloads.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8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Fragmented AI Tooling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Existing tools treat AI as an isolated single-step prompt node.</a:t>
            </a:r>
            <a:br/>
            <a:br/>
            <a:r>
              <a:t>• They lack an intelligent copilot that can author, inspect, and self-heal the workflow graph.</a:t>
            </a:r>
            <a:br/>
            <a:br/>
            <a:r>
              <a:t>• Teams have no sandboxed simulation to test multi-agent logic before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Solution: Serverless Edge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EDGE RUNTIME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Sub-50ms Global Edge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Executes inside Cloudflare Workers V8 isolates across 300+ global locations.</a:t>
            </a:r>
            <a:br/>
            <a:br/>
            <a:r>
              <a:t>• Zero cold starts (instant invocation on incoming webhooks).</a:t>
            </a:r>
            <a:br/>
            <a:br/>
            <a:r>
              <a:t>• $0.00 idle cost — scales completely to zero when traffic stops.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INTEROPERABILITY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Bidirectional Flow2Flow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Direct import and export of raw n8n workflow JSON schemas.</a:t>
            </a:r>
            <a:br/>
            <a:br/>
            <a:r>
              <a:t>• Native support for 55+ services (Slack, Stripe, HubSpot, Postgres, Webhooks).</a:t>
            </a:r>
            <a:br/>
            <a:br/>
            <a:r>
              <a:t>• Kahn's topological auto-layout with automatic dependency and cycle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INTELLIGENCE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Prompt-to-Flow Copilot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• Generates full working workflows from natural language prompts in ~14ms via Groq LPUs.</a:t>
            </a:r>
            <a:br/>
            <a:br/>
            <a:r>
              <a:t>• MiroFish swarm simulation tests edge cases and rate limits before going live.</a:t>
            </a:r>
            <a:br/>
            <a:br/>
            <a:r>
              <a:t>• Flexible inference: Built-in Groq, local Ollama (Gemma 4), or BYOK (Claude, GPT-4o).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Market Opportunity &amp; Industry Tailwinds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400"/>
              </a:spcAft>
              <a:defRPr sz="3000" b="1">
                <a:solidFill>
                  <a:srgbClr val="06B6D4"/>
                </a:solidFill>
                <a:latin typeface="Arial"/>
              </a:defRPr>
            </a:pPr>
            <a:r>
              <a:t>$29.5B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Total Addressable Market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Projected workflow automation and iPaaS market size by 2028.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420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400"/>
              </a:spcAft>
              <a:defRPr sz="3000" b="1">
                <a:solidFill>
                  <a:srgbClr val="06B6D4"/>
                </a:solidFill>
                <a:latin typeface="Arial"/>
              </a:defRPr>
            </a:pPr>
            <a:r>
              <a:t>28.7%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Market CAGR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Annual expansion rate driven by developer automation &amp; AI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463040"/>
            <a:ext cx="25420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400"/>
              </a:spcAft>
              <a:defRPr sz="3000" b="1">
                <a:solidFill>
                  <a:srgbClr val="06B6D4"/>
                </a:solidFill>
                <a:latin typeface="Arial"/>
              </a:defRPr>
            </a:pPr>
            <a:r>
              <a:t>84%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Serverless Transition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Enterprises migrating away from continuous VM hosting to serverless edge.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463040"/>
            <a:ext cx="25420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spcAft>
                <a:spcPts val="400"/>
              </a:spcAft>
              <a:defRPr sz="3000" b="1">
                <a:solidFill>
                  <a:srgbClr val="06B6D4"/>
                </a:solidFill>
                <a:latin typeface="Arial"/>
              </a:defRPr>
            </a:pPr>
            <a:r>
              <a:t>300+</a:t>
            </a:r>
          </a:p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Global Edge PoPs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Worldwide points of presence through Cloudflare's edge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Why Now? The Convergence of Serverless Edge &amp; Open AI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1. Edge Infrastructure Maturity: Serverless edge computing (Cloudflare Workers, D1 SQLite) has eliminated the latency and database bottlenecks that previously required dedicated server clusters.</a:t>
            </a:r>
            <a:br/>
            <a:br/>
            <a:r>
              <a:t>2. Open Source AI Explosion: High-speed open models (Groq LPUs, Gemma 4, Llama 3) allow real-time workflow synthesis without multi-dollar API fees.</a:t>
            </a:r>
            <a:br/>
            <a:br/>
            <a:r>
              <a:t>3. Pushback on SaaS Tax: High-growth companies are rejecting per-task pricing models like Zapier in favor of open-source platforms that scale with fixed software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Decoupled Serverless Edge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1. Visual Studio Canvas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Stack: React 18 • Vite • @xyflow/react • Tailwind CSS    |    Topological auto-layout (Kahn's algorithm), cycle detection, orphan node repair, and live execution tracing.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79192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2. Serverless Edge Runtime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Stack: Cloudflare Workers • V8 Isolates • TypeScript    |    Processes incoming webhooks, validates contracts, executes branching logic, and calls APIs in &lt; 50ms.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95344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3. Distributed Edge Database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Stack: Cloudflare D1 • Distributed Serverless SQLite    |    Manages user credentials, JWT sessions, subscription plans, workflow JSON graphs, and execution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11496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06B6D4"/>
                </a:solidFill>
                <a:latin typeface="Arial"/>
              </a:defRPr>
            </a:pPr>
            <a:r>
              <a:t>4. AI Copilot &amp; Simulation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Stack: Groq LPU (Qwen 3.8) • Local Ollama • MiroFish Sandbox    |    Real-time prompt-to-flow synthesis in ~14ms; multi-agent swarm simulation to stress-test workflows prior to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CORE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Flow2Flow Interoperability &amp; Swarm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spcAft>
                <a:spcPts val="12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Flow2Flow Universal Adapter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• Zero Migration Friction: Ingests existing n8n workflows directly via copy-paste JSON or export files.</a:t>
            </a:r>
            <a:br/>
            <a:br/>
            <a:r>
              <a:t>• 55+ Integrated Services: Maps triggers, actions, and LangChain AI sub-nodes into native visual elements.</a:t>
            </a:r>
            <a:br/>
            <a:br/>
            <a:r>
              <a:t>• Self-Healing Graph Engine: Validates edge connectivity, fixes broken references, and formats collision-free layouts.</a:t>
            </a:r>
            <a:br/>
            <a:br/>
            <a:r>
              <a:t>• Freedom from Vendor Lock-In: Workflows can be exported back to standard n8n format at any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463040"/>
            <a:ext cx="5175504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spcAft>
                <a:spcPts val="12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MiroFish Swarm Simulation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• Pre-Flight Sandboxing: Simulates complex multi-agent interactions and high-throughput traffic before deployment.</a:t>
            </a:r>
            <a:br/>
            <a:br/>
            <a:r>
              <a:t>• Bottleneck Discovery: Detects API rate limits, schema mismatches, and execution timeouts without risking production data.</a:t>
            </a:r>
            <a:br/>
            <a:br/>
            <a:r>
              <a:t>• Resilient Text Processing: Built-in chunking parsers and memory update barriers ensure stability under heavy load.</a:t>
            </a:r>
            <a:br/>
            <a:br/>
            <a:r>
              <a:t>• 133 Automated Backend Tests: Fully audited and verified with automated test suites.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MARKET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Competitive Advantage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148840"/>
                <a:gridCol w="2148840"/>
                <a:gridCol w="2148840"/>
                <a:gridCol w="2148840"/>
              </a:tblGrid>
              <a:tr h="7620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Shadow Flow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Zapier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Make (Integromat)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n8n (Self-Hosted)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Hosting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Serverless Edge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Closed SaaS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Closed SaaS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Docker VM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Cost @ 1M Tasks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&lt; $5.00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$5,000+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$1,200+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$50-$200 (VM fees)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Cold Starts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0 ms (V8 Isolates)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1-3s (Container boot)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AI Prompt-to-Flow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Built-in Groq LPU (14ms)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Basic Assistant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Limited Beta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Third-party extension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Swarm Simulation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MiroFish Sandbox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Model &amp; High-Margin Unit Economics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FREE TIER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$0 / mo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• Unlimited visual canvas nodes</a:t>
            </a:r>
            <a:br/>
            <a:r>
              <a:t>• 20 AI generations/day (built-in)</a:t>
            </a:r>
            <a:br/>
            <a:r>
              <a:t>• 55+ Community connectors</a:t>
            </a:r>
            <a:br/>
            <a:r>
              <a:t>• Community support</a:t>
            </a:r>
            <a:br/>
            <a:br/>
            <a:r>
              <a:t>Objective: User acquisition funnel &amp; viral developer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PRO PLAN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$29 / mo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• 100 AI generations/day</a:t>
            </a:r>
            <a:br/>
            <a:r>
              <a:t>• 30-Day execution telemetry</a:t>
            </a:r>
            <a:br/>
            <a:r>
              <a:t>• Webhook secrets management</a:t>
            </a:r>
            <a:br/>
            <a:r>
              <a:t>• Custom edge routes</a:t>
            </a:r>
            <a:br/>
            <a:r>
              <a:t>• Priority email support</a:t>
            </a:r>
            <a:br/>
            <a:br/>
            <a:r>
              <a:t>Target: Freelancers, agencies, and high-growth startups.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ENTERPRISE / MAX</a:t>
            </a:r>
          </a:p>
          <a:p>
            <a:pPr>
              <a:spcAft>
                <a:spcPts val="8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$99 - $299 / mo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• Unlimited AI workflow generations</a:t>
            </a:r>
            <a:br/>
            <a:r>
              <a:t>• Dedicated edge worker deployment</a:t>
            </a:r>
            <a:br/>
            <a:r>
              <a:t>• Private database replication</a:t>
            </a:r>
            <a:br/>
            <a:r>
              <a:t>• SSO / SAML &amp; custom RBAC</a:t>
            </a:r>
            <a:br/>
            <a:r>
              <a:t>• 99.9% uptime SLA</a:t>
            </a:r>
            <a:br/>
            <a:br/>
            <a:r>
              <a:t>Target: Mid-market &amp; enterprise data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UNIT ECONOMICS: &gt; 92% GROSS SOFTWARE MARGIN</a:t>
            </a:r>
          </a:p>
          <a:p>
            <a:pPr>
              <a:defRPr sz="1000">
                <a:solidFill>
                  <a:srgbClr val="F1F5F9"/>
                </a:solidFill>
                <a:latin typeface="Arial"/>
              </a:defRPr>
            </a:pPr>
            <a:r>
              <a:t>Because compute runs entirely on Cloudflare Workers ($0.30/M requests) and D1 storage (5M free reads daily), average infrastructure cost per active Pro subscriber is under $0.80/month. Idle workflows incur zero hosting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LIVE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Audited Production Receipts &amp;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Live Production URL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https://shadowflow.work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Delivered via Cloudflare Pages (Deploy bd572d3b) and edge workers across 300+ PoPs.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5175504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Sub-50ms API Latency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/api/health &amp; /webhook/:id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Edge worker responds instantly with Cloudflare D1 serverless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5175504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176 Passing Automated Tests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Vitest + Pytest Suite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43 frontend unit tests, 133 backend simulation tests, 0 TypeScript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886200"/>
            <a:ext cx="5175504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200" b="1">
                <a:solidFill>
                  <a:srgbClr val="3B82F6"/>
                </a:solidFill>
                <a:latin typeface="Arial"/>
              </a:defRPr>
            </a:pPr>
            <a:r>
              <a:t>14ms AI Inference Latency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/api/copilot/chat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Built-in Groq LPU engine delivers instant prompt-to-workflow generation with daily quota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Product Growth &amp; Engineering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PHASE 1 (DELIVERED)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Core Foundation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• Visual Studio Canvas with Kahn's topological layout</a:t>
            </a:r>
            <a:br/>
            <a:br/>
            <a:r>
              <a:t>• Universal n8n JSON workflow importer (55+ services)</a:t>
            </a:r>
            <a:br/>
            <a:br/>
            <a:r>
              <a:t>• Cloudflare D1 serverless SQLite persistence</a:t>
            </a:r>
            <a:br/>
            <a:br/>
            <a:r>
              <a:t>• Built-in Groq LPU Copilot with daily quotas</a:t>
            </a:r>
            <a:br/>
            <a:br/>
            <a:r>
              <a:t>• MiroFish swarm simulation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3B82F6"/>
                </a:solidFill>
                <a:latin typeface="Arial"/>
              </a:defRPr>
            </a:pPr>
            <a:r>
              <a:t>PHASE 2 (MONTHS 1-6)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Expansion &amp; PLG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• One-click deployer to user's personal Cloudflare account</a:t>
            </a:r>
            <a:br/>
            <a:br/>
            <a:r>
              <a:t>• Community workflow template marketplace</a:t>
            </a:r>
            <a:br/>
            <a:br/>
            <a:r>
              <a:t>• Team collaboration workspaces with role-based access</a:t>
            </a:r>
            <a:br/>
            <a:br/>
            <a:r>
              <a:t>• Webhook replay and step-by-step debugger</a:t>
            </a:r>
            <a:br/>
            <a:br/>
            <a:r>
              <a:t>• Connector catalog expansion to 100+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PHASE 3 (MONTHS 7-18)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Enterprise Scale</a:t>
            </a:r>
          </a:p>
          <a:p>
            <a:pPr>
              <a:defRPr sz="1050">
                <a:solidFill>
                  <a:srgbClr val="F1F5F9"/>
                </a:solidFill>
                <a:latin typeface="Arial"/>
              </a:defRPr>
            </a:pPr>
            <a:r>
              <a:t>• Native TypeScript/Python code isolates in edge workers</a:t>
            </a:r>
            <a:br/>
            <a:br/>
            <a:r>
              <a:t>• SOC 2 Type II and GDPR enterprise compliance</a:t>
            </a:r>
            <a:br/>
            <a:br/>
            <a:r>
              <a:t>• High-throughput queue runners for data pipelines</a:t>
            </a:r>
            <a:br/>
            <a:br/>
            <a:r>
              <a:t>• Enterprise private VPC edge deployment options</a:t>
            </a:r>
            <a:br/>
            <a:br/>
            <a:r>
              <a:t>• Full multi-tenant billing &amp; analytics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Capital Allocation &amp; Investment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spcAft>
                <a:spcPts val="12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Investment Objective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Shadow Flow is raising seed funding to expand core engineering, scale developer adoption, and build out enterprise sales pipelines.</a:t>
            </a:r>
            <a:br/>
            <a:br/>
            <a:r>
              <a:t>Key Targets for Next 12 Months:</a:t>
            </a:r>
            <a:br/>
            <a:br/>
            <a:r>
              <a:t>• 10,000+ Active Developer Workflows</a:t>
            </a:r>
            <a:br/>
            <a:r>
              <a:t>• 500+ Paying Pro &amp; Team Customers</a:t>
            </a:r>
            <a:br/>
            <a:r>
              <a:t>• $150k+ Annual Recurring Revenue (ARR)</a:t>
            </a:r>
            <a:br/>
            <a:r>
              <a:t>• 200+ Verified Service Connectors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463040"/>
            <a:ext cx="606521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Planned Use of Funds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50% — Core Systems Engineering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Build native edge code execution isolates, expand connector catalog from 55 to 200+, and harden queue architectures.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30% — DevRel &amp; Community Growth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Drive open-source adoption, author comprehensive documentation, and create pre-built workflow templates for common SaaS tools.</a:t>
            </a:r>
          </a:p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20% — Enterprise &amp; Security</a:t>
            </a:r>
          </a:p>
          <a:p>
            <a:pPr>
              <a:spcAft>
                <a:spcPts val="10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Achieve SOC 2 Type II compliance, implement enterprise SAML/SSO tooling, and establish direct enterprise support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457200"/>
          <a:lstStyle/>
          <a:p>
            <a:pPr algn="ctr">
              <a:spcAft>
                <a:spcPts val="12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JOIN THE EDGE AUTOMATION REVOLUTION</a:t>
            </a:r>
          </a:p>
          <a:p>
            <a:pPr algn="ctr">
              <a:spcAft>
                <a:spcPts val="12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SHADOW FLOW</a:t>
            </a:r>
          </a:p>
          <a:p>
            <a:pPr algn="ctr">
              <a:spcAft>
                <a:spcPts val="2400"/>
              </a:spcAft>
              <a:defRPr sz="1600">
                <a:solidFill>
                  <a:srgbClr val="3B82F6"/>
                </a:solidFill>
                <a:latin typeface="Arial"/>
              </a:defRPr>
            </a:pPr>
            <a:r>
              <a:t>The Open-Source, Edge-Native Alternative to Zapier and n8n</a:t>
            </a:r>
          </a:p>
          <a:p>
            <a:pPr algn="ctr">
              <a:defRPr sz="1300" b="1">
                <a:solidFill>
                  <a:srgbClr val="F1F5F9"/>
                </a:solidFill>
                <a:latin typeface="Arial"/>
              </a:defRPr>
            </a:pPr>
            <a:r>
              <a:t>Live Platform: https://shadowflow.work</a:t>
            </a:r>
            <a:br/>
            <a:r>
              <a:t>GitHub: https://github.com/muhdfaisalwork-gif/shadowflow</a:t>
            </a:r>
            <a:br/>
            <a:r>
              <a:t>Contact: founders@shadowflow.work | Muhd Faisal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COMMUNITY &amp; SPONSORSHIP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Ecosystem Sponsorship &amp; Grant Partnerships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300+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Global Colocations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Cloudflare edge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n8n Compatible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Open JSON workflow schemas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3 Engines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Graph Memory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Heuristic, Ollama, Groq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280160"/>
            <a:ext cx="24688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371600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Arial"/>
              </a:defRPr>
            </a:pPr>
            <a:r>
              <a:t>120+</a:t>
            </a:r>
          </a:p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Curated Blueprints</a:t>
            </a:r>
          </a:p>
          <a:p>
            <a:pPr algn="ctr">
              <a:defRPr sz="900">
                <a:solidFill>
                  <a:srgbClr val="94A3B8"/>
                </a:solidFill>
                <a:latin typeface="Arial"/>
              </a:defRPr>
            </a:pPr>
            <a:r>
              <a:t>Ready-to-run automation templates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1: Infrastructure &amp; Compute</a:t>
            </a:r>
          </a:p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$1,500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Funds global edge database clusters and community Groq LPU quota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Featured logo in application header and GitHub hero banner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Prominent sponsor listing across shadowflow.work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Direct advisory channel for platform roadmap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2: Node Ecosystem &amp; Integration</a:t>
            </a:r>
          </a:p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$750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Co-develop verified integration connectors (CRM, payments, databases)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Dedicated partner blueprint showcase in Template Hub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Featured highlight in release notes and documentation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Co-branded technical case study and tutorial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560320"/>
            <a:ext cx="2468880" cy="2971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21945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Tier 3: Open-Source Backer</a:t>
            </a:r>
          </a:p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$250 / month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Funds developer bounties, security audits, and Graphify memory modules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Logo in GitHub README sponsors section and documentation footer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Early access preview builds and quarterly ecosystem report</a:t>
            </a:r>
          </a:p>
          <a:p>
            <a:pPr>
              <a:spcAft>
                <a:spcPts val="400"/>
              </a:spcAft>
              <a:defRPr sz="950">
                <a:solidFill>
                  <a:srgbClr val="F1F5F9"/>
                </a:solidFill>
                <a:latin typeface="Arial"/>
              </a:defRPr>
            </a:pPr>
            <a:r>
              <a:t>• Direct attribution on open-source repositories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15000"/>
            <a:ext cx="1069848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Partnership Inquiries: sponsor@shadowflow.work  |  Technical Support: support@shadowflow.work  |  GitHub: github.com/muhdfaisalwork-gif/shadowflow</a:t>
            </a:r>
          </a:p>
          <a:p>
            <a:pPr algn="ctr">
              <a:defRPr sz="950">
                <a:solidFill>
                  <a:srgbClr val="94A3B8"/>
                </a:solidFill>
                <a:latin typeface="Arial"/>
              </a:defRPr>
            </a:pPr>
            <a:r>
              <a:t>Production Platform: https://shadowflow.work  •  Founder &amp; Lead Architect: Muhd Faisal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